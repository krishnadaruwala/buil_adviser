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37" r:id="rId1"/>
    <p:sldMasterId id="2147484292" r:id="rId2"/>
  </p:sldMasterIdLst>
  <p:notesMasterIdLst>
    <p:notesMasterId r:id="rId20"/>
  </p:notesMasterIdLst>
  <p:sldIdLst>
    <p:sldId id="301" r:id="rIdS1"/>
    <p:sldId id="302" r:id="rIdS2"/>
    <p:sldId id="303" r:id="rIdS3"/>
    <p:sldId id="304" r:id="rIdS4"/>
    <p:sldId id="305" r:id="rIdS5"/>
    <p:sldId id="306" r:id="rIdS6"/>
    <p:sldId id="307" r:id="rIdS7"/>
    <p:sldId id="308" r:id="rIdS8"/>
    <p:sldId id="309" r:id="rIdS9"/>
    <p:sldId id="310" r:id="rIdS10"/>
    <p:sldId id="311" r:id="rIdS11"/>
    <p:sldId id="312" r:id="rIdS12"/>
    <p:sldId id="313" r:id="rIdS13"/>
    <p:sldId id="314" r:id="rIdS14"/>
    <p:sldId id="315" r:id="rIdS15"/>
    <p:sldId id="316" r:id="rIdS16"/>
    <p:sldId id="317" r:id="rIdS17"/>
    <p:sldId id="318" r:id="rIdS18"/>
    <p:sldId id="319" r:id="rIdS19"/>
    <p:sldId id="320" r:id="rIdS20"/>
    <p:sldId id="321" r:id="rIdS21"/>
    <p:sldId id="322" r:id="rIdS22"/>
    <p:sldId id="323" r:id="rIdS23"/>
    <p:sldId id="324" r:id="rIdS24"/>
    <p:sldId id="325" r:id="rIdS25"/>
    <p:sldId id="326" r:id="rIdS26"/>
    <p:sldId id="327" r:id="rIdS27"/>
    <p:sldId id="328" r:id="rIdS28"/>
    <p:sldId id="329" r:id="rIdS29"/>
    <p:sldId id="330" r:id="rIdS30"/>
    <p:sldId id="331" r:id="rIdS31"/>
    <p:sldId id="332" r:id="rIdS32"/>
    <p:sldId id="333" r:id="rIdS33"/>
    <p:sldId id="334" r:id="rIdS34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LOlwcEu8Z415uoH1sW+cE4jZP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9" autoAdjust="0"/>
  </p:normalViewPr>
  <p:slideViewPr>
    <p:cSldViewPr snapToGrid="0">
      <p:cViewPr varScale="1">
        <p:scale>
          <a:sx n="74" d="100"/>
          <a:sy n="74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51" Type="http://schemas.openxmlformats.org/officeDocument/2006/relationships/theme" Target="theme/theme1.xml"/><Relationship Id="rId50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49" Type="http://schemas.openxmlformats.org/officeDocument/2006/relationships/presProps" Target="presProps.xml"/><Relationship Id="rId52" Type="http://schemas.openxmlformats.org/officeDocument/2006/relationships/tableStyles" Target="tableStyles.xml"/><Relationship Id="rId48" Type="http://customschemas.google.com/relationships/presentationmetadata" Target="metadata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28" Type="http://schemas.openxmlformats.org/officeDocument/2006/relationships/slide" Target="slides/slide28.xml"/><Relationship Id="rIdS29" Type="http://schemas.openxmlformats.org/officeDocument/2006/relationships/slide" Target="slides/slide29.xml"/><Relationship Id="rIdS30" Type="http://schemas.openxmlformats.org/officeDocument/2006/relationships/slide" Target="slides/slide30.xml"/><Relationship Id="rIdS31" Type="http://schemas.openxmlformats.org/officeDocument/2006/relationships/slide" Target="slides/slide31.xml"/><Relationship Id="rIdS32" Type="http://schemas.openxmlformats.org/officeDocument/2006/relationships/slide" Target="slides/slide32.xml"/><Relationship Id="rIdS33" Type="http://schemas.openxmlformats.org/officeDocument/2006/relationships/slide" Target="slides/slide33.xml"/><Relationship Id="rIdS34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71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089B-BB7C-00EB-7836-FCC520B62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E51FD-67EB-A65D-4236-9699C7EE4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8BD7F-ABFC-5313-8382-1108D7D0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2812-E446-C7DB-4C91-DA1DB4AD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651B9-389E-A41F-E7B9-A2654E60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6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3C8A1-B954-9E45-C4D0-0B2D4D9F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7ABB-9521-AFC5-A354-556AC143C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0EF0D-75C3-7B96-1634-8AF14E4F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54633-4CF4-DF4C-F2A0-C27ACB7A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9C961-F87A-4898-7F9B-009A58AB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89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6775-F312-8CB7-1A53-36F01CD7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5A5F4-A93D-C2C4-60CF-728E16B76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3B40D-6234-7A79-1C2A-714F0BB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030FB-067B-38B9-367C-9E4AA36E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2718B-C085-13A7-2A8E-6B9B3EDE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293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E84F-5C75-3F82-A11F-1FF04339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5442-2EA6-4B76-2B44-35174B5A6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C19AD-B8FC-129F-3BB4-374C4B201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F3FEE-A5EE-D9BA-C063-C15D19CE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EB5AF-D79F-7219-4465-28041577C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DA95D-ADA3-5570-FF46-AC8B7EA0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894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05E4-403C-F381-BABE-E9AFD08A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A10E2-65E2-4943-BE3C-827115A1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8E9F1-D165-D93C-B885-4B326F8AA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3A75D-E9EE-EE0F-64AA-E51F16362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DB284-DF2D-BC0F-4024-DA5E1CBF3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D3C6F-3E76-2A82-2AC3-E8CE064C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A2ADA-3C1E-0A48-CD61-7F6D19C1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99F70-8BA6-A75F-65BC-67FC78E8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2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9881-5E5E-A876-A43E-1D56B855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AC3EE-2E68-3DB6-C3CB-DF73359E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776B6-40BD-EB09-0375-C8B3D67E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D5BC3-4E97-340D-C04F-CBF1C41D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851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3CEE3-03AF-6034-F8F3-0654615D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5C32B-34B6-D0F5-8AEA-CFE281CB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37338-B6C2-5E63-35E8-979F0A52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276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B33E-36AC-6321-1740-7D680644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4B892-FCD5-195F-EB39-41572C2C9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40D72-5BBC-C353-C4A7-E9079ACC0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B44CF-3EDC-19A0-035B-B9B24F1F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94269-BAF2-88D4-0E9D-25309B6E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471F6-9D8C-C33E-B839-84812330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653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B181-B5AE-682A-F9AD-F66293302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61575-F888-83C0-47E4-FC74A33FB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D2B48-0E21-D47D-4FCD-47915F08E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FCB44-7C3D-7715-5ABD-E05C8F5C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C145E-A03A-2675-5C08-00FE5D08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E0C8-F2C9-62CA-3894-22D25B49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348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87C2-BA06-DC69-DD08-9052A4E6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2B417-03F9-C00A-3520-5AC4021B8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9E018-E7A7-25BD-7AF2-287E87D4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9F04-BF81-BACF-C64C-129AE8EC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D4805-D1F1-8DDE-2AA5-6E7EEC3A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818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D1EDB-C075-AEED-1CFB-1D4AD405F9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9B9B9-B608-BB1A-F45C-6551F324C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913C7-F54A-5F1C-5B11-50413345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B0F7-F28D-5954-EAEE-1D69F739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19255-6A26-B19E-597D-882B3C48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176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937A-D0E1-0E69-AC9C-7CDEA9C43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74791-ED0E-F47C-67F8-0618D0C56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67F67-D073-F563-7F42-4407346C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2E84E-6D18-71E9-BE1E-5EB4B0CE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509A0-DA6F-87C9-D518-8F8366D22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1100" b="0"/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43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463A-E351-0795-099B-D4EB36BA8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C7F7-8D42-8E97-BFC6-B98B2931D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CB7B-42DE-ECF1-E27F-CB80FB0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F1FBB-4C5B-6680-5DCA-94E19EC2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3D11D-98C1-41E8-6916-77EAA91D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8243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55EC-77CB-2FA7-38BC-00912FD9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E7319-38F0-2C31-ED41-094063B0E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9511F-3541-6E40-5EBF-F2A5B8BF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09145-73B6-BE54-FCD1-662DAA9D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2360A-BE60-F772-EB8C-D9066A0A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938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3591-FEC7-EEE3-60B5-ECF25DAF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E990C-1A1C-39FD-3EF1-67B0EE37E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C380-CD6A-E9BC-9FDA-3BD6C5120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A10E7-D33D-09DC-3BF8-2DB4CC936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6DEEC-7843-5A0A-F7C5-949DB359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CB934-C0E8-1871-EBBD-480272AA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057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E867-2B4F-2C01-52AB-83FDC95C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EB39B-B5AC-085B-232C-D7CD5E2A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02FC4-139D-9D52-731F-38A143765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848E2-C699-E227-296D-DB4B55991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76588-AD43-BA17-472D-61F6F3DCE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4AA72-CDE5-CDE8-3A65-71930E91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5887F-A803-4F4F-AC00-DC75E783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D664E-161A-3EB4-2D93-9C7FBA98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9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8145-B1F8-3536-CE65-DC1C5F33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E31AE-D32D-9806-C9C7-4F75ED8C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B7D5E-F1F8-3293-FE10-B09FB969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4C665-B3EC-84ED-3626-6D3AE0F6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253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C26165-5384-BB34-654F-F17D323D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B4B1C-AC14-D63B-1AE6-714DA7A5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2EA7-1C62-51CD-B2F6-98A5E3E9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6066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4A2A-F005-AEED-A36E-34858FD2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9C31-2671-135B-70AD-916C6C4AC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020B6-9DA3-976D-6542-E4025388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ED7F-FCFB-2DD1-016C-01338537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97F24-1638-DB97-9136-08CA1824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A3CCD-4390-EC37-F613-88DC0701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3212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AA846-BD55-E41B-D69E-1F40E757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AFDB6-D140-AE67-F088-CD441DE8EE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3E088-7764-96DF-C4DD-2AAC911C3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ED96F-0EFD-6B26-6282-F8B5B84F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F46AD-43A3-F3E9-59F7-4F91607F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B34AD-F381-1247-2422-8121B80E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9348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2977-6D74-D530-AC92-9112455B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8238F-5E54-B3AE-C656-78363023B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19B91-5C33-17B0-4121-3A32F536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0270-BB24-7F59-8B11-DB82FCF6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1B0C3-DCCE-989D-857D-A6D40213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1894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2A55A-4C2D-A928-22E8-DE384AA4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42CEB-5DDD-6E39-1B8B-BBAAE3314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5E270-3872-0F4B-6ED8-698FC9C1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79E7C-525B-8B7F-4201-FFBE676A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F826F-019D-C6C5-1520-FF7C6CBC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671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D6113-CED5-5776-8B77-C8035C03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6A73B-8459-73E1-AD74-3C56021CD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6CD61-B64D-9477-973B-044088191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0901-30F9-633F-440E-A664575DB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D808A-2EB2-9357-F7BA-34405DD77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76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3E05D-8572-821B-80B1-C4746EE1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3A2F0-88CE-4F89-5086-0FFD8D77A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44F9A-740A-79CC-BD07-85A7CF91F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06F45-6688-12C9-3CBF-F740EF79B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B4CD7-9398-C9A9-96B7-04B81EEFA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737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uc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act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seq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3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3_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3_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arch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5_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5_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5_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5_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5_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5_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3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4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5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6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7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ba_Figure_4_8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56509" cy="99752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"/>
          <p:cNvSpPr txBox="1"/>
          <p:nvPr/>
        </p:nvSpPr>
        <p:spPr>
          <a:xfrm>
            <a:off x="1371600" y="82968"/>
            <a:ext cx="6746033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Sarvajanik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Education Society</a:t>
            </a:r>
            <a:b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KP Human </a:t>
            </a:r>
            <a:r>
              <a:rPr lang="en-US" b="1" dirty="0" err="1"/>
              <a:t>Sarvajanik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College of </a:t>
            </a:r>
            <a:r>
              <a:rPr lang="en-US" b="1" dirty="0"/>
              <a:t>Commerce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b="1" dirty="0"/>
              <a:t>Computer Applications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Surat.</a:t>
            </a:r>
            <a:b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dirty="0"/>
              <a:t>Bachelo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of Computer Applications 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Year: 2026– 27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F8FE7-7EDB-F0DF-73CC-EA537BE320CB}"/>
              </a:ext>
            </a:extLst>
          </p:cNvPr>
          <p:cNvSpPr txBox="1">
            <a:spLocks/>
          </p:cNvSpPr>
          <p:nvPr/>
        </p:nvSpPr>
        <p:spPr>
          <a:xfrm>
            <a:off x="1268962" y="2144396"/>
            <a:ext cx="6596743" cy="61115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buClrTx/>
              <a:buFontTx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BuildAdvisor – AI-Powered PC Build Recommender for Gamers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121EE5-916D-6AB4-3CB4-2ECD0452B9E5}"/>
              </a:ext>
            </a:extLst>
          </p:cNvPr>
          <p:cNvSpPr txBox="1">
            <a:spLocks/>
          </p:cNvSpPr>
          <p:nvPr/>
        </p:nvSpPr>
        <p:spPr>
          <a:xfrm>
            <a:off x="2998690" y="5431746"/>
            <a:ext cx="3491854" cy="12069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lang="en-US" sz="2000" b="0" i="0" u="none" strike="noStrike" cap="none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dirty="0"/>
              <a:t>&lt;Mentor Name&gt;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ABCF43-95C8-49D1-3C32-3EC30AE296E0}"/>
              </a:ext>
            </a:extLst>
          </p:cNvPr>
          <p:cNvSpPr txBox="1"/>
          <p:nvPr/>
        </p:nvSpPr>
        <p:spPr>
          <a:xfrm>
            <a:off x="2281334" y="190567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Presentation On</a:t>
            </a:r>
            <a:endParaRPr lang="en-US" sz="2000" b="0" i="0" u="none" strike="noStrike" cap="none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93AD8-EA69-8942-E0F9-129D59AF909C}"/>
              </a:ext>
            </a:extLst>
          </p:cNvPr>
          <p:cNvSpPr txBox="1"/>
          <p:nvPr/>
        </p:nvSpPr>
        <p:spPr>
          <a:xfrm>
            <a:off x="2505269" y="481230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lang="pt-BR" sz="1600" b="1" dirty="0">
                <a:solidFill>
                  <a:srgbClr val="262626"/>
                </a:solidFill>
              </a:rPr>
              <a:t>B</a:t>
            </a:r>
            <a:r>
              <a:rPr lang="pt-BR" sz="16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.C.A. v Sem. </a:t>
            </a:r>
            <a:endParaRPr lang="pt-BR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7E1F3-815E-5676-C126-FC2713443BD8}"/>
              </a:ext>
            </a:extLst>
          </p:cNvPr>
          <p:cNvSpPr txBox="1"/>
          <p:nvPr/>
        </p:nvSpPr>
        <p:spPr>
          <a:xfrm>
            <a:off x="2274335" y="3222235"/>
            <a:ext cx="458599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Presented By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&lt;Member 1 Name&gt;(En. No.)</a:t>
            </a:r>
          </a:p>
          <a:p>
            <a:pPr algn="ctr">
              <a:buSzPts val="2000"/>
            </a:pPr>
            <a:r>
              <a:rPr lang="en-US" sz="1600" dirty="0"/>
              <a:t>&lt;Member 2 Name&gt;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(En. No.)</a:t>
            </a:r>
            <a:endParaRPr lang="en-US" sz="1600" dirty="0"/>
          </a:p>
          <a:p>
            <a:pPr algn="ctr">
              <a:buSzPts val="2000"/>
            </a:pPr>
            <a:r>
              <a:rPr lang="en-US" sz="1600" dirty="0"/>
              <a:t>&lt;Member 3 Name&gt;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00" dirty="0"/>
              <a:t>En No.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B002B-9D65-BE4F-C5AA-149BF5AA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865394-41AE-FC33-3A99-D6F3671A9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853" y="12863"/>
            <a:ext cx="1150299" cy="124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912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Agenda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00"/>
            <a:ext cx="7886700" cy="50000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Description (Technology Used)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Diagrams (Use Case, Activity, Sequence, DFD)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Dictionary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E-R Diagram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UI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Enhancement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6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00"/>
            <a:ext cx="7886700" cy="50000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BuildAdvisor</a:t>
            </a: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AI-powered web application that recommends a complete, compatible gaming PC within a user’s budget.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user enters only a </a:t>
            </a:r>
            <a:r>
              <a:rPr lang="en-IN" sz="17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budget, target game and resolution</a:t>
            </a: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the system selects seven parts (CPU, GPU, motherboard, RAM, storage, PSU, case).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build is checked for socket, RAM type, PSU wattage and case fit, priced across retailers and given an estimated FPS.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17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Gemini API</a:t>
            </a: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explains the build in plain language, with a local fallback if the API is unavailable.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PC owners get upgrade advice; builds can be saved, shared and rated. Built with </a:t>
            </a:r>
            <a:r>
              <a:rPr lang="en-IN" sz="17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Streamlit, Flask and SQLite</a:t>
            </a: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00"/>
            <a:ext cx="7886700" cy="50000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 first-time builders buy a balanced, compatible PC without technical knowledge.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 builds tailored to budget, game and resolution, not budget alone.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incompatible purchases through automatic compatibility checks and part substitution.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realistic FPS estimates and the lowest retailer prices.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every recommendation in simple language using generative AI.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 cost-effective upgrades for existing PCs instead of a full rebuild.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working gracefully when external services (Gemini, pricing) fail.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System Description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54557C-36E5-7A8D-BA62-292088621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87543"/>
              </p:ext>
            </p:extLst>
          </p:nvPr>
        </p:nvGraphicFramePr>
        <p:xfrm>
          <a:off x="594683" y="1250000"/>
          <a:ext cx="7954633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524"/>
                <a:gridCol w="5767108"/>
              </a:tblGrid>
              <a:tr h="420000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/>
                          <a:cs typeface="Times New Roman"/>
                        </a:rPr>
                        <a:t>Category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/>
                          <a:cs typeface="Times New Roman"/>
                        </a:rPr>
                        <a:t>Details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Frontend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Streamlit (Python) with custom dark theme – app.py, ui.py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Backend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Flask REST API – backend.py; business logic – logic.py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Database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SQLite (7 tables) – db.py; portable to MySQL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AI Service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Google Gemini API (gemini-2.5-flash) – ai.py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Pricing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requests + BeautifulSoup scraping with cache – pricing.py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Configuration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.env business rules (BUILDADVISOR_*) – config.py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Software Requirement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Python 3.x, pip packages from requirements.txt, modern web browser, VS Code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Hardware Requirement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Intel i3 / Ryzen 3 or above, 4 GB RAM (8 GB recommended), 500 MB disk, internet connection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Operating System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/>
                          <a:cs typeface="Times New Roman"/>
                        </a:rPr>
                        <a:t>Windows 10/11, Linux or macOS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62505-C127-0D86-77EE-C6AA984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3754206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Use Case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4" y="850000"/>
            <a:ext cx="7827272" cy="56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Activity Diagram (Build Generation)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778" y="850000"/>
            <a:ext cx="3884444" cy="56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Sequence Diagram (Generate &amp; Save Build)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00" y="850000"/>
            <a:ext cx="6125000" cy="56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DFD Level 0 (Context Diagram)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2271289"/>
            <a:ext cx="8300000" cy="210742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700000" y="6130000"/>
            <a:ext cx="7744000" cy="62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just"/>
            <a:r>
              <a:rPr lang="en-IN" sz="1300" i="0" dirty="0">
                <a:solidFill>
                  <a:srgbClr val="404040"/>
                </a:solidFill>
                <a:latin typeface="Times New Roman"/>
                <a:cs typeface="Times New Roman"/>
              </a:rPr>
              <a:t>BuildAdvisor shown as a single process exchanging data with the Gamer, the Administrator and the Google Gemini API.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DFD Level 1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331" y="850000"/>
            <a:ext cx="6077338" cy="56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Data Dictionary (1/2)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54557C-36E5-7A8D-BA62-292088621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87543"/>
              </p:ext>
            </p:extLst>
          </p:nvPr>
        </p:nvGraphicFramePr>
        <p:xfrm>
          <a:off x="594683" y="1250000"/>
          <a:ext cx="7954633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168"/>
                <a:gridCol w="1893960"/>
                <a:gridCol w="1704564"/>
                <a:gridCol w="2840940"/>
              </a:tblGrid>
              <a:tr h="300000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Table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Field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User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user_id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INTEGER (PK)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Unique user id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User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name / email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User details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User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Gamer, PC owner or Admin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component_id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 (PK)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Unique component code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CPU, GPU, RAM, etc.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name / price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 / INTEGER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Product name, price in ₹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tier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entry / mid / high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specs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 (JSON)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socket, tdp, ram_type, wattage, score…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Game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game_id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 (PK)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Unique game code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Game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name / weight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 / REAL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Title and FPS difficulty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Game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cpu_bound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INTEGER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1 if CPU-heavy game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62505-C127-0D86-77EE-C6AA984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375420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Data Dictionary (2/2)</a:t>
            </a:r>
            <a:endParaRPr lang="en-US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54557C-36E5-7A8D-BA62-292088621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87543"/>
              </p:ext>
            </p:extLst>
          </p:nvPr>
        </p:nvGraphicFramePr>
        <p:xfrm>
          <a:off x="594683" y="1250000"/>
          <a:ext cx="7954633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168"/>
                <a:gridCol w="2083356"/>
                <a:gridCol w="1515168"/>
                <a:gridCol w="2840940"/>
              </a:tblGrid>
              <a:tr h="300000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Table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Field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INTEGER (PK)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Unique build id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share_code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 (Unique)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10-char share code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user_id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INTEGER (FK)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Owner of build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name / game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 name, target game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total_price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INTEGER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Total in ₹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created_at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Save time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build_id, component_id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PK + FK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Links builds to parts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Benchmark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build_id, game_id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PK + FK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Build–game pair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Benchmark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estimated_fps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INTEGER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Estimated FPS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Rating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rating_id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INTEGER (PK)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Unique rating id</a:t>
                      </a:r>
                    </a:p>
                  </a:txBody>
                  <a:tcPr marL="68580" marR="68580" marT="34290" marB="3429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Rating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build_id / score / comment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FK / INT / 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Times New Roman"/>
                          <a:cs typeface="Times New Roman"/>
                        </a:rPr>
                        <a:t>Rating 1–5 with comment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62505-C127-0D86-77EE-C6AA984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375420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E-R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806" y="850000"/>
            <a:ext cx="6308388" cy="56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System Architecture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82" y="850000"/>
            <a:ext cx="6895036" cy="56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Project UI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Build Advisor – Home Screen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Project UI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Recommended Build with AI Explanation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Project UI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Build Result for a 4K Target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Project UI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Upgrade Advisor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Project UI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Community Builds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Project UI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 – Summary</a:t>
            </a:r>
            <a:endParaRPr lang="en-US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54557C-36E5-7A8D-BA62-292088621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87543"/>
              </p:ext>
            </p:extLst>
          </p:nvPr>
        </p:nvGraphicFramePr>
        <p:xfrm>
          <a:off x="594683" y="1250000"/>
          <a:ext cx="7954633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069"/>
                <a:gridCol w="3298262"/>
                <a:gridCol w="2910231"/>
                <a:gridCol w="873069"/>
              </a:tblGrid>
              <a:tr h="420000">
                <a:tc>
                  <a:txBody>
                    <a:bodyPr/>
                    <a:lstStyle/>
                    <a:p>
                      <a:r>
                        <a:rPr lang="en-IN" sz="1300" b="1" dirty="0">
                          <a:latin typeface="Times New Roman"/>
                          <a:cs typeface="Times New Roman"/>
                        </a:rPr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1" dirty="0">
                          <a:latin typeface="Times New Roman"/>
                          <a:cs typeface="Times New Roman"/>
                        </a:rPr>
                        <a:t>Test Case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1" dirty="0">
                          <a:latin typeface="Times New Roman"/>
                          <a:cs typeface="Times New Roman"/>
                        </a:rPr>
                        <a:t>Expected Result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1" dirty="0">
                          <a:latin typeface="Times New Roman"/>
                          <a:cs typeface="Times New Roman"/>
                        </a:rPr>
                        <a:t>Status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Mid-range build (₹80,000, Starfield, 1080p)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Compatible build within budget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TC02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4K target (₹90,000, Elden Ring)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Stronger GPU, lower FPS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TC07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Gemini API unavailable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Build shown with fallback notice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TC08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Live pricing unavailable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Last-known prices with note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TC09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Upgrade Advisor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GPU bottleneck, RTX 4060 suggested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Save and share build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Share link generated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Admin wrong password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Access denied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TC14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Backend server offline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Clear offline message, no crash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300" b="0" dirty="0"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62505-C127-0D86-77EE-C6AA984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3754206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TC01 – Generate a build for a mid-range budget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TC02 – Build for a 4K resolution target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TC07 – Gemini API unavailable (graceful fallback)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TC08 – Live pricing unavailable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TC09 – Upgrade Advisor finds the bottleneck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TC10 – Save and share a build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TC12 – Admin login with incorrect password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687" y="227785"/>
            <a:ext cx="6694098" cy="541990"/>
          </a:xfrm>
        </p:spPr>
        <p:txBody>
          <a:bodyPr>
            <a:noAutofit/>
          </a:bodyPr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Testing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0" y="1165625"/>
            <a:ext cx="8300000" cy="46687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0B6BA-5C8A-ACCE-29B0-C782BF5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00000" y="6180000"/>
            <a:ext cx="7944000" cy="30000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 algn="ctr"/>
            <a:r>
              <a:rPr lang="en-IN"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TC14 – Backend server offline</a:t>
            </a:r>
          </a:p>
        </p:txBody>
      </p:sp>
    </p:spTree>
    <p:extLst>
      <p:ext uri="{BB962C8B-B14F-4D97-AF65-F5344CB8AC3E}">
        <p14:creationId xmlns:p14="http://schemas.microsoft.com/office/powerpoint/2010/main" val="249374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00"/>
            <a:ext cx="7886700" cy="50000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three inputs needed: budget, game and resolution.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compatibility checks: socket, RAM type, PSU headroom and case fit.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Plain-language AI explanations for beginners.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Graceful fallback when Gemini or live pricing is unavailable.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Multi-retailer price comparison saves money.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Upgrade Advisor extends the life of existing PCs.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rules configurable through .env without code changes.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three-tier design that is easy to maintain.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Limitations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00"/>
            <a:ext cx="7886700" cy="50000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Catalogue currently has only 35 components and 13 games.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FPS values are estimates from a score model, not measured benchmarks.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price scraping is optional and can break if retailer pages change.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explanations need internet and are subject to Gemini rate limits.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SQLite is not suited for many concurrent users.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user registration yet; only the Admin signs in.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Peripherals such as monitors and coolers are not recommended.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Enhancement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00"/>
            <a:ext cx="7886700" cy="50000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more components (coolers, monitors) and more games.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real benchmark data for accurate FPS.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Reliable live pricing with price-drop alerts.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registration, login and personal build history.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for laptops, pre-builts, streaming and editing workloads.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to PostgreSQL and deploy on the cloud.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Gemini-powered chat assistant for follow-up questions.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AB7-FE36-DFDD-F1F0-302B2EE8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16610" cy="1023727"/>
          </a:xfrm>
        </p:spPr>
        <p:txBody>
          <a:bodyPr/>
          <a:lstStyle/>
          <a:p>
            <a:pPr marL="0" marR="0" lvl="0" indent="-152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19A-22E8-A67C-C706-BD2F69456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00"/>
            <a:ext cx="7886700" cy="50000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https://docs.streamlit.io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https://flask.palletsprojects.com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https://www.sqlite.org/docs.html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https://ai.google.dev/gemini-api/docs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https://docs.python.org/3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https://www.crummy.com/software/BeautifulSoup/bs4/doc</a:t>
            </a: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17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https://pcpartpicker.com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E6AB-EF9F-3441-2F3D-49C945FD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165992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01AF-57D4-3173-B997-40C8476E9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0220" y="2883159"/>
            <a:ext cx="5155649" cy="1343608"/>
          </a:xfrm>
        </p:spPr>
        <p:txBody>
          <a:bodyPr>
            <a:normAutofit/>
          </a:bodyPr>
          <a:lstStyle/>
          <a:p>
            <a:pPr algn="ctr"/>
            <a:r>
              <a:rPr lang="en-US" sz="60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2FB08-55B0-92E1-B3F1-33C8163B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04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205</Words>
  <Application>Microsoft Office PowerPoint</Application>
  <PresentationFormat>On-screen Show (4:3)</PresentationFormat>
  <Paragraphs>64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1_Office Theme</vt:lpstr>
      <vt:lpstr>Office Theme</vt:lpstr>
      <vt:lpstr>PowerPoint Presentation</vt:lpstr>
      <vt:lpstr>Agenda</vt:lpstr>
      <vt:lpstr>Abstract</vt:lpstr>
      <vt:lpstr>Objective</vt:lpstr>
      <vt:lpstr>System Description</vt:lpstr>
      <vt:lpstr>Use Case Diagram</vt:lpstr>
      <vt:lpstr>Activity Diagram (Login)</vt:lpstr>
      <vt:lpstr>Activity Diagram (Registration)</vt:lpstr>
      <vt:lpstr>Data Dictionary</vt:lpstr>
      <vt:lpstr>E-R Diagram</vt:lpstr>
      <vt:lpstr>Project UI</vt:lpstr>
      <vt:lpstr>Testing</vt:lpstr>
      <vt:lpstr>Advantages </vt:lpstr>
      <vt:lpstr>Limitations</vt:lpstr>
      <vt:lpstr>Future Enhancement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kgayatri</dc:creator>
  <cp:lastModifiedBy>DARSHANA HALATWALA</cp:lastModifiedBy>
  <cp:revision>72</cp:revision>
  <dcterms:created xsi:type="dcterms:W3CDTF">1601-01-01T00:00:00Z</dcterms:created>
  <dcterms:modified xsi:type="dcterms:W3CDTF">2026-09-07T05:05:24Z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16393�뾝�뾝ꆌक-9.1.0.4945</vt:lpwstr>
  </property>
</Properties>
</file>